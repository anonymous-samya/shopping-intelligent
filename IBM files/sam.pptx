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79" r:id="rId8"/>
    <p:sldId id="291" r:id="rId9"/>
    <p:sldId id="294" r:id="rId10"/>
    <p:sldId id="292" r:id="rId11"/>
    <p:sldId id="264" r:id="rId12"/>
    <p:sldId id="286" r:id="rId13"/>
    <p:sldId id="280" r:id="rId14"/>
    <p:sldId id="288" r:id="rId15"/>
    <p:sldId id="293" r:id="rId16"/>
    <p:sldId id="289" r:id="rId17"/>
    <p:sldId id="287"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109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77681254"/>
              </p:ext>
            </p:extLst>
          </p:nvPr>
        </p:nvGraphicFramePr>
        <p:xfrm>
          <a:off x="1299257" y="2600315"/>
          <a:ext cx="9394989" cy="226721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07332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Samarth Jadhav</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samarthjadhav9231@gmail.com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7038244562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1138773"/>
          </a:xfrm>
          <a:prstGeom prst="rect">
            <a:avLst/>
          </a:prstGeom>
          <a:noFill/>
        </p:spPr>
        <p:txBody>
          <a:bodyPr wrap="square" rtlCol="0">
            <a:spAutoFit/>
          </a:bodyPr>
          <a:lstStyle/>
          <a:p>
            <a:r>
              <a:rPr lang="en-US" sz="2400" b="1" dirty="0"/>
              <a:t>Domain of  Project – </a:t>
            </a:r>
            <a:r>
              <a:rPr lang="en-IN" sz="2000" b="1" dirty="0"/>
              <a:t>Artificial Intelligence (AI) for E-Commerce, Smart Retail, and Recommendation Systems.</a:t>
            </a:r>
            <a:endParaRPr lang="en-IN" sz="2000" dirty="0"/>
          </a:p>
          <a:p>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AI-Powered Intelligent Shopping Agent</a:t>
            </a:r>
            <a:endParaRPr lang="en-IN" sz="2400" b="1" dirty="0">
              <a:highlight>
                <a:srgbClr val="FFFF00"/>
              </a:highlight>
            </a:endParaRPr>
          </a:p>
        </p:txBody>
      </p:sp>
      <p:pic>
        <p:nvPicPr>
          <p:cNvPr id="3" name="Picture 2">
            <a:extLst>
              <a:ext uri="{FF2B5EF4-FFF2-40B4-BE49-F238E27FC236}">
                <a16:creationId xmlns:a16="http://schemas.microsoft.com/office/drawing/2014/main" id="{63C90A2B-5C7D-5ADB-9FF2-4077328E9CE6}"/>
              </a:ext>
            </a:extLst>
          </p:cNvPr>
          <p:cNvPicPr>
            <a:picLocks noChangeAspect="1"/>
          </p:cNvPicPr>
          <p:nvPr/>
        </p:nvPicPr>
        <p:blipFill>
          <a:blip r:embed="rId3"/>
          <a:stretch>
            <a:fillRect/>
          </a:stretch>
        </p:blipFill>
        <p:spPr>
          <a:xfrm>
            <a:off x="4010026" y="3691467"/>
            <a:ext cx="981474" cy="11760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18895" y="613094"/>
            <a:ext cx="10607040" cy="5693866"/>
          </a:xfrm>
          <a:prstGeom prst="rect">
            <a:avLst/>
          </a:prstGeom>
          <a:noFill/>
        </p:spPr>
        <p:txBody>
          <a:bodyPr wrap="square" rtlCol="0">
            <a:spAutoFit/>
          </a:bodyPr>
          <a:lstStyle/>
          <a:p>
            <a:r>
              <a:rPr lang="en-US" b="1" dirty="0"/>
              <a:t>Proposed Solution: AI-Powered Intelligent Shopping Agent</a:t>
            </a:r>
          </a:p>
          <a:p>
            <a:r>
              <a:rPr lang="en-US" dirty="0"/>
              <a:t>Develop a </a:t>
            </a:r>
            <a:r>
              <a:rPr lang="en-US" b="1" dirty="0"/>
              <a:t>multi-agent AI system</a:t>
            </a:r>
            <a:r>
              <a:rPr lang="en-US" dirty="0"/>
              <a:t> using </a:t>
            </a:r>
            <a:r>
              <a:rPr lang="en-US" b="1" dirty="0" err="1"/>
              <a:t>LangFlow</a:t>
            </a:r>
            <a:r>
              <a:rPr lang="en-US" b="1" dirty="0"/>
              <a:t>, IBM watsonx.ai, and Granite Models</a:t>
            </a:r>
            <a:r>
              <a:rPr lang="en-US" dirty="0"/>
              <a:t> to provide personalized shopping recommendations and intelligent purchasing assistance.</a:t>
            </a:r>
          </a:p>
          <a:p>
            <a:endParaRPr lang="en-US" dirty="0"/>
          </a:p>
          <a:p>
            <a:pPr>
              <a:buFont typeface="Arial" panose="020B0604020202020204" pitchFamily="34" charset="0"/>
              <a:buChar char="•"/>
            </a:pPr>
            <a:r>
              <a:rPr lang="en-US" dirty="0"/>
              <a:t>Use a </a:t>
            </a:r>
            <a:r>
              <a:rPr lang="en-US" b="1" dirty="0"/>
              <a:t>RAG (Retrieval-Augmented Generation)</a:t>
            </a:r>
            <a:r>
              <a:rPr lang="en-US" dirty="0"/>
              <a:t> pipeline to retrieve accurate product information, reviews, specifications, and pricing from trusted sources. </a:t>
            </a:r>
          </a:p>
          <a:p>
            <a:pPr>
              <a:buFont typeface="Arial" panose="020B0604020202020204" pitchFamily="34" charset="0"/>
              <a:buChar char="•"/>
            </a:pPr>
            <a:endParaRPr lang="en-US" dirty="0"/>
          </a:p>
          <a:p>
            <a:endParaRPr lang="en-US" dirty="0"/>
          </a:p>
          <a:p>
            <a:pPr>
              <a:buFont typeface="Arial" panose="020B0604020202020204" pitchFamily="34" charset="0"/>
              <a:buChar char="•"/>
            </a:pPr>
            <a:r>
              <a:rPr lang="en-US" dirty="0"/>
              <a:t>Implement a </a:t>
            </a:r>
            <a:r>
              <a:rPr lang="en-US" b="1" dirty="0"/>
              <a:t>Product Discovery Agent</a:t>
            </a:r>
            <a:r>
              <a:rPr lang="en-US" dirty="0"/>
              <a:t> to recommend products based on user preferences, budget, and shopping history. </a:t>
            </a:r>
          </a:p>
          <a:p>
            <a:pPr>
              <a:buFont typeface="Arial" panose="020B0604020202020204" pitchFamily="34" charset="0"/>
              <a:buChar char="•"/>
            </a:pPr>
            <a:endParaRPr lang="en-US" dirty="0"/>
          </a:p>
          <a:p>
            <a:pPr>
              <a:buFont typeface="Arial" panose="020B0604020202020204" pitchFamily="34" charset="0"/>
              <a:buChar char="•"/>
            </a:pPr>
            <a:r>
              <a:rPr lang="en-US" dirty="0"/>
              <a:t>Build a </a:t>
            </a:r>
            <a:r>
              <a:rPr lang="en-US" b="1" dirty="0"/>
              <a:t>Price Comparison Agent</a:t>
            </a:r>
            <a:r>
              <a:rPr lang="en-US" dirty="0"/>
              <a:t> to compare prices across multiple e-commerce platforms and identify the best deals. </a:t>
            </a:r>
          </a:p>
          <a:p>
            <a:pPr>
              <a:buFont typeface="Arial" panose="020B0604020202020204" pitchFamily="34" charset="0"/>
              <a:buChar char="•"/>
            </a:pPr>
            <a:endParaRPr lang="en-US" dirty="0"/>
          </a:p>
          <a:p>
            <a:pPr>
              <a:buFont typeface="Arial" panose="020B0604020202020204" pitchFamily="34" charset="0"/>
              <a:buChar char="•"/>
            </a:pPr>
            <a:r>
              <a:rPr lang="en-US" dirty="0"/>
              <a:t>Integrate a </a:t>
            </a:r>
            <a:r>
              <a:rPr lang="en-US" b="1" dirty="0"/>
              <a:t>Review &amp; Sentiment Analysis Agent</a:t>
            </a:r>
            <a:r>
              <a:rPr lang="en-US" dirty="0"/>
              <a:t> to summarize customer reviews and highlight product strengths and weaknesses</a:t>
            </a:r>
          </a:p>
          <a:p>
            <a:pPr>
              <a:buFont typeface="Arial" panose="020B0604020202020204" pitchFamily="34" charset="0"/>
              <a:buChar char="•"/>
            </a:pPr>
            <a:r>
              <a:rPr lang="en-US" dirty="0"/>
              <a:t>. </a:t>
            </a:r>
          </a:p>
          <a:p>
            <a:pPr>
              <a:buFont typeface="Arial" panose="020B0604020202020204" pitchFamily="34" charset="0"/>
              <a:buChar char="•"/>
            </a:pPr>
            <a:r>
              <a:rPr lang="en-US" dirty="0"/>
              <a:t>Include a </a:t>
            </a:r>
            <a:r>
              <a:rPr lang="en-US" b="1" dirty="0"/>
              <a:t>Personalized Recommendation Agent</a:t>
            </a:r>
            <a:r>
              <a:rPr lang="en-US" dirty="0"/>
              <a:t> to generate tailored product suggestions using user behavior and preferences.</a:t>
            </a:r>
          </a:p>
          <a:p>
            <a:pPr>
              <a:buFont typeface="Arial" panose="020B0604020202020204" pitchFamily="34" charset="0"/>
              <a:buChar char="•"/>
            </a:pPr>
            <a:r>
              <a:rPr lang="en-US" dirty="0"/>
              <a:t> </a:t>
            </a:r>
          </a:p>
          <a:p>
            <a:pPr>
              <a:buFont typeface="Arial" panose="020B0604020202020204" pitchFamily="34" charset="0"/>
              <a:buChar char="•"/>
            </a:pPr>
            <a:r>
              <a:rPr lang="en-US" dirty="0"/>
              <a:t>Develop a </a:t>
            </a:r>
            <a:r>
              <a:rPr lang="en-US" b="1" dirty="0" err="1"/>
              <a:t>Streamlit</a:t>
            </a:r>
            <a:r>
              <a:rPr lang="en-US" b="1" dirty="0"/>
              <a:t> or React dashboard</a:t>
            </a:r>
            <a:r>
              <a:rPr lang="en-US" dirty="0"/>
              <a:t> to display product recommendations, price comparisons, review summaries, and shopping insights. </a:t>
            </a:r>
          </a:p>
          <a:p>
            <a:pPr>
              <a:buFont typeface="Arial" panose="020B0604020202020204" pitchFamily="34" charset="0"/>
              <a:buChar char="•"/>
            </a:pPr>
            <a:endParaRPr lang="en-US" dirty="0"/>
          </a:p>
          <a:p>
            <a:pPr>
              <a:buFont typeface="Arial" panose="020B0604020202020204" pitchFamily="34" charset="0"/>
              <a:buChar char="•"/>
            </a:pPr>
            <a:r>
              <a:rPr lang="en-US" dirty="0"/>
              <a:t>Use </a:t>
            </a:r>
            <a:r>
              <a:rPr lang="en-US" b="1" dirty="0" err="1"/>
              <a:t>LangFlow</a:t>
            </a:r>
            <a:r>
              <a:rPr lang="en-US" dirty="0"/>
              <a:t> for agent orchestration, </a:t>
            </a:r>
            <a:r>
              <a:rPr lang="en-US" b="1" dirty="0"/>
              <a:t>IBM watsonx.ai</a:t>
            </a:r>
            <a:r>
              <a:rPr lang="en-US" dirty="0"/>
              <a:t> for AI deployment, and </a:t>
            </a:r>
            <a:r>
              <a:rPr lang="en-US" b="1" dirty="0"/>
              <a:t>Granite Models</a:t>
            </a:r>
            <a:r>
              <a:rPr lang="en-US" dirty="0"/>
              <a:t> for reasoning, summarization, and personalized recommendations. </a:t>
            </a:r>
          </a:p>
          <a:p>
            <a:pPr>
              <a:buFont typeface="Arial" panose="020B0604020202020204" pitchFamily="34" charset="0"/>
              <a:buChar char="•"/>
            </a:pPr>
            <a:endParaRPr lang="en-US" dirty="0"/>
          </a:p>
          <a:p>
            <a:pPr>
              <a:buFont typeface="Arial" panose="020B0604020202020204" pitchFamily="34" charset="0"/>
              <a:buChar char="•"/>
            </a:pPr>
            <a:r>
              <a:rPr lang="en-US" dirty="0"/>
              <a:t>Continuously update recommendations using real-time product availability, pricing, discounts, and customer reviews. </a:t>
            </a:r>
          </a:p>
          <a:p>
            <a:pPr>
              <a:buFont typeface="Arial" panose="020B0604020202020204" pitchFamily="34" charset="0"/>
              <a:buChar char="•"/>
            </a:pPr>
            <a:endParaRPr lang="en-US" dirty="0"/>
          </a:p>
          <a:p>
            <a:pPr>
              <a:buFont typeface="Arial" panose="020B0604020202020204" pitchFamily="34" charset="0"/>
              <a:buChar char="•"/>
            </a:pPr>
            <a:r>
              <a:rPr lang="en-US" dirty="0"/>
              <a:t>Deliver an intelligent shopping assistant that saves time, reduces costs, and enhances the online shopping experience.</a:t>
            </a:r>
          </a:p>
          <a:p>
            <a:pPr>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55874" y="15142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
        <p:nvSpPr>
          <p:cNvPr id="5" name="Rectangle 2">
            <a:extLst>
              <a:ext uri="{FF2B5EF4-FFF2-40B4-BE49-F238E27FC236}">
                <a16:creationId xmlns:a16="http://schemas.microsoft.com/office/drawing/2014/main" id="{04FFA12A-5325-89EA-7355-C5DE7161FF2B}"/>
              </a:ext>
            </a:extLst>
          </p:cNvPr>
          <p:cNvSpPr>
            <a:spLocks noChangeArrowheads="1"/>
          </p:cNvSpPr>
          <p:nvPr/>
        </p:nvSpPr>
        <p:spPr bwMode="auto">
          <a:xfrm>
            <a:off x="576072" y="1063238"/>
            <a:ext cx="1136137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Proposed Solution: AI-Powered Intelligent Shopping Agent</a:t>
            </a:r>
          </a:p>
          <a:p>
            <a:r>
              <a:rPr lang="en-US" sz="1600" dirty="0"/>
              <a:t>Develop a </a:t>
            </a:r>
            <a:r>
              <a:rPr lang="en-US" sz="1600" b="1" dirty="0"/>
              <a:t>multi-agent AI system</a:t>
            </a:r>
            <a:r>
              <a:rPr lang="en-US" sz="1600" dirty="0"/>
              <a:t> using </a:t>
            </a:r>
            <a:r>
              <a:rPr lang="en-US" sz="1600" b="1" dirty="0" err="1"/>
              <a:t>LangFlow</a:t>
            </a:r>
            <a:r>
              <a:rPr lang="en-US" sz="1600" b="1" dirty="0"/>
              <a:t>, IBM watsonx.ai, and Granite Models</a:t>
            </a:r>
            <a:r>
              <a:rPr lang="en-US" sz="1600" dirty="0"/>
              <a:t> to provide personalized shopping recommendations and intelligent purchasing assistance.</a:t>
            </a:r>
          </a:p>
          <a:p>
            <a:endParaRPr lang="en-US" sz="1600" dirty="0"/>
          </a:p>
          <a:p>
            <a:pPr>
              <a:buFont typeface="Arial" panose="020B0604020202020204" pitchFamily="34" charset="0"/>
              <a:buChar char="•"/>
            </a:pPr>
            <a:r>
              <a:rPr lang="en-US" sz="1600" dirty="0"/>
              <a:t>Use a </a:t>
            </a:r>
            <a:r>
              <a:rPr lang="en-US" sz="1600" b="1" dirty="0"/>
              <a:t>RAG (Retrieval-Augmented Generation)</a:t>
            </a:r>
            <a:r>
              <a:rPr lang="en-US" sz="1600" dirty="0"/>
              <a:t> pipeline to retrieve accurate product information, reviews, specifications, and pricing from trusted sources. </a:t>
            </a:r>
          </a:p>
          <a:p>
            <a:pPr>
              <a:buFont typeface="Arial" panose="020B0604020202020204" pitchFamily="34" charset="0"/>
              <a:buChar char="•"/>
            </a:pPr>
            <a:endParaRPr lang="en-US" sz="1600" dirty="0"/>
          </a:p>
          <a:p>
            <a:endParaRPr lang="en-US" sz="1600" dirty="0"/>
          </a:p>
          <a:p>
            <a:pPr>
              <a:buFont typeface="Arial" panose="020B0604020202020204" pitchFamily="34" charset="0"/>
              <a:buChar char="•"/>
            </a:pPr>
            <a:r>
              <a:rPr lang="en-US" sz="1600" dirty="0"/>
              <a:t>Implement a </a:t>
            </a:r>
            <a:r>
              <a:rPr lang="en-US" sz="1600" b="1" dirty="0"/>
              <a:t>Product Discovery Agent</a:t>
            </a:r>
            <a:r>
              <a:rPr lang="en-US" sz="1600" dirty="0"/>
              <a:t> to recommend products based on user preferences, budget, and shopping history. </a:t>
            </a:r>
          </a:p>
          <a:p>
            <a:pPr>
              <a:buFont typeface="Arial" panose="020B0604020202020204" pitchFamily="34" charset="0"/>
              <a:buChar char="•"/>
            </a:pPr>
            <a:endParaRPr lang="en-US" sz="1600" dirty="0"/>
          </a:p>
          <a:p>
            <a:pPr>
              <a:buFont typeface="Arial" panose="020B0604020202020204" pitchFamily="34" charset="0"/>
              <a:buChar char="•"/>
            </a:pPr>
            <a:r>
              <a:rPr lang="en-US" sz="1600" dirty="0"/>
              <a:t>Build a </a:t>
            </a:r>
            <a:r>
              <a:rPr lang="en-US" sz="1600" b="1" dirty="0"/>
              <a:t>Price Comparison Agent</a:t>
            </a:r>
            <a:r>
              <a:rPr lang="en-US" sz="1600" dirty="0"/>
              <a:t> to compare prices across multiple e-commerce platforms and identify the best deals. </a:t>
            </a:r>
          </a:p>
          <a:p>
            <a:pPr>
              <a:buFont typeface="Arial" panose="020B0604020202020204" pitchFamily="34" charset="0"/>
              <a:buChar char="•"/>
            </a:pPr>
            <a:endParaRPr lang="en-US" sz="1600" dirty="0"/>
          </a:p>
          <a:p>
            <a:pPr>
              <a:buFont typeface="Arial" panose="020B0604020202020204" pitchFamily="34" charset="0"/>
              <a:buChar char="•"/>
            </a:pPr>
            <a:r>
              <a:rPr lang="en-US" sz="1600" dirty="0"/>
              <a:t>Integrate a </a:t>
            </a:r>
            <a:r>
              <a:rPr lang="en-US" sz="1600" b="1" dirty="0"/>
              <a:t>Review &amp; Sentiment Analysis Agent</a:t>
            </a:r>
            <a:r>
              <a:rPr lang="en-US" sz="1600" dirty="0"/>
              <a:t> to summarize customer reviews and highlight product strengths and weaknesses</a:t>
            </a:r>
          </a:p>
          <a:p>
            <a:pPr>
              <a:buFont typeface="Arial" panose="020B0604020202020204" pitchFamily="34" charset="0"/>
              <a:buChar char="•"/>
            </a:pPr>
            <a:r>
              <a:rPr lang="en-US" sz="1600" dirty="0"/>
              <a:t>. </a:t>
            </a:r>
          </a:p>
          <a:p>
            <a:pPr>
              <a:buFont typeface="Arial" panose="020B0604020202020204" pitchFamily="34" charset="0"/>
              <a:buChar char="•"/>
            </a:pPr>
            <a:r>
              <a:rPr lang="en-US" sz="1600" dirty="0"/>
              <a:t>Include a </a:t>
            </a:r>
            <a:r>
              <a:rPr lang="en-US" sz="1600" b="1" dirty="0"/>
              <a:t>Personalized Recommendation Agent</a:t>
            </a:r>
            <a:r>
              <a:rPr lang="en-US" sz="1600" dirty="0"/>
              <a:t> to generate tailored product suggestions using user behavior and preferences.</a:t>
            </a:r>
          </a:p>
          <a:p>
            <a:pPr>
              <a:buFont typeface="Arial" panose="020B0604020202020204" pitchFamily="34" charset="0"/>
              <a:buChar char="•"/>
            </a:pPr>
            <a:r>
              <a:rPr lang="en-US" sz="1600" dirty="0"/>
              <a:t> </a:t>
            </a:r>
          </a:p>
          <a:p>
            <a:pPr>
              <a:buFont typeface="Arial" panose="020B0604020202020204" pitchFamily="34" charset="0"/>
              <a:buChar char="•"/>
            </a:pPr>
            <a:r>
              <a:rPr lang="en-US" sz="1600" dirty="0"/>
              <a:t>Develop a </a:t>
            </a:r>
            <a:r>
              <a:rPr lang="en-US" sz="1600" b="1" dirty="0" err="1"/>
              <a:t>Streamlit</a:t>
            </a:r>
            <a:r>
              <a:rPr lang="en-US" sz="1600" b="1" dirty="0"/>
              <a:t> or React dashboard</a:t>
            </a:r>
            <a:r>
              <a:rPr lang="en-US" sz="1600" dirty="0"/>
              <a:t> to display product recommendations, price comparisons, review summaries, and shopping insights. </a:t>
            </a:r>
          </a:p>
          <a:p>
            <a:pPr>
              <a:buFont typeface="Arial" panose="020B0604020202020204" pitchFamily="34" charset="0"/>
              <a:buChar char="•"/>
            </a:pPr>
            <a:endParaRPr lang="en-US" sz="1600" dirty="0"/>
          </a:p>
          <a:p>
            <a:pPr>
              <a:buFont typeface="Arial" panose="020B0604020202020204" pitchFamily="34" charset="0"/>
              <a:buChar char="•"/>
            </a:pPr>
            <a:r>
              <a:rPr lang="en-US" sz="1600" dirty="0"/>
              <a:t>Use </a:t>
            </a:r>
            <a:r>
              <a:rPr lang="en-US" sz="1600" b="1" dirty="0" err="1"/>
              <a:t>LangFlow</a:t>
            </a:r>
            <a:r>
              <a:rPr lang="en-US" sz="1600" dirty="0"/>
              <a:t> for agent orchestration, </a:t>
            </a:r>
            <a:r>
              <a:rPr lang="en-US" sz="1600" b="1" dirty="0"/>
              <a:t>IBM watsonx.ai</a:t>
            </a:r>
            <a:r>
              <a:rPr lang="en-US" sz="1600" dirty="0"/>
              <a:t> for AI deployment, and </a:t>
            </a:r>
            <a:r>
              <a:rPr lang="en-US" sz="1600" b="1" dirty="0"/>
              <a:t>Granite Models</a:t>
            </a:r>
            <a:r>
              <a:rPr lang="en-US" sz="1600" dirty="0"/>
              <a:t> for reasoning, summarization, and personalized recommendations. </a:t>
            </a:r>
          </a:p>
          <a:p>
            <a:pPr>
              <a:buFont typeface="Arial" panose="020B0604020202020204" pitchFamily="34" charset="0"/>
              <a:buChar char="•"/>
            </a:pPr>
            <a:endParaRPr lang="en-US" sz="1600"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4" name="Rectangle 1">
            <a:extLst>
              <a:ext uri="{FF2B5EF4-FFF2-40B4-BE49-F238E27FC236}">
                <a16:creationId xmlns:a16="http://schemas.microsoft.com/office/drawing/2014/main" id="{5F8CC419-0868-6E45-16F6-ED91DB9C5659}"/>
              </a:ext>
            </a:extLst>
          </p:cNvPr>
          <p:cNvSpPr>
            <a:spLocks noChangeArrowheads="1"/>
          </p:cNvSpPr>
          <p:nvPr/>
        </p:nvSpPr>
        <p:spPr bwMode="auto">
          <a:xfrm>
            <a:off x="777240" y="804377"/>
            <a:ext cx="111116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watsonx.ai</a:t>
            </a:r>
            <a:r>
              <a:rPr kumimoji="0" lang="en-US" altLang="en-US" sz="1800" b="0" i="0" u="none" strike="noStrike" cap="none" normalizeH="0" baseline="0" dirty="0">
                <a:ln>
                  <a:noFill/>
                </a:ln>
                <a:solidFill>
                  <a:schemeClr val="tx1"/>
                </a:solidFill>
                <a:effectLst/>
                <a:latin typeface="Arial" panose="020B0604020202020204" pitchFamily="34" charset="0"/>
              </a:rPr>
              <a:t> – AI model deployment and inference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Granite Models</a:t>
            </a:r>
            <a:r>
              <a:rPr kumimoji="0" lang="en-US" altLang="en-US" sz="1800" b="0" i="0" u="none" strike="noStrike" cap="none" normalizeH="0" baseline="0" dirty="0">
                <a:ln>
                  <a:noFill/>
                </a:ln>
                <a:solidFill>
                  <a:schemeClr val="tx1"/>
                </a:solidFill>
                <a:effectLst/>
                <a:latin typeface="Arial" panose="020B0604020202020204" pitchFamily="34" charset="0"/>
              </a:rPr>
              <a:t> – Intelligent reasoning and recommendations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0" i="0" u="none" strike="noStrike" cap="none" normalizeH="0" baseline="0" dirty="0">
                <a:ln>
                  <a:noFill/>
                </a:ln>
                <a:solidFill>
                  <a:schemeClr val="tx1"/>
                </a:solidFill>
                <a:effectLst/>
                <a:latin typeface="Arial" panose="020B0604020202020204" pitchFamily="34" charset="0"/>
              </a:rPr>
              <a:t> – Multi-agent workflow orchestration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Arial" panose="020B0604020202020204" pitchFamily="34" charset="0"/>
              </a:rPr>
              <a:t>IBM bob</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539430"/>
          </a:xfrm>
          <a:prstGeom prst="rect">
            <a:avLst/>
          </a:prstGeom>
          <a:noFill/>
        </p:spPr>
        <p:txBody>
          <a:bodyPr wrap="square" rtlCol="0">
            <a:spAutoFit/>
          </a:bodyPr>
          <a:lstStyle/>
          <a:p>
            <a:r>
              <a:rPr lang="en-US" b="1" dirty="0"/>
              <a:t>Components Used</a:t>
            </a:r>
          </a:p>
          <a:p>
            <a:r>
              <a:rPr lang="en-US" b="1" dirty="0"/>
              <a:t>1. Chat Input</a:t>
            </a:r>
          </a:p>
          <a:p>
            <a:r>
              <a:rPr lang="en-US" dirty="0"/>
              <a:t>Allows users to enter product requirements, preferences, budget, or shopping queries.</a:t>
            </a:r>
          </a:p>
          <a:p>
            <a:r>
              <a:rPr lang="en-US" b="1" dirty="0"/>
              <a:t>2. IBM </a:t>
            </a:r>
            <a:r>
              <a:rPr lang="en-US" b="1" dirty="0" err="1"/>
              <a:t>watsonx</a:t>
            </a:r>
            <a:r>
              <a:rPr lang="en-US" b="1" dirty="0"/>
              <a:t> AI Agent</a:t>
            </a:r>
          </a:p>
          <a:p>
            <a:r>
              <a:rPr lang="en-US" dirty="0"/>
              <a:t>Processes user queries using Granite Models to provide intelligent shopping recommendations, price comparisons, and product insights.</a:t>
            </a:r>
          </a:p>
          <a:p>
            <a:r>
              <a:rPr lang="en-US" b="1" dirty="0"/>
              <a:t>3. IBM Granite Model</a:t>
            </a:r>
          </a:p>
          <a:p>
            <a:r>
              <a:rPr lang="en-US" b="1" dirty="0"/>
              <a:t>Granite-4.0-8B-Instruct</a:t>
            </a:r>
            <a:r>
              <a:rPr lang="en-US" dirty="0"/>
              <a:t> – Fast and efficient for product recommendation, reasoning, and review summarization.</a:t>
            </a:r>
          </a:p>
          <a:p>
            <a:r>
              <a:rPr lang="en-US" b="1" dirty="0"/>
              <a:t>4. Chat Output</a:t>
            </a:r>
          </a:p>
          <a:p>
            <a:r>
              <a:rPr lang="en-US" dirty="0"/>
              <a:t>Displays personalized product recommendations, price comparisons, review summaries, and buying suggestions.</a:t>
            </a:r>
          </a:p>
          <a:p>
            <a:r>
              <a:rPr lang="en-US" b="1" dirty="0"/>
              <a:t>5. File Component</a:t>
            </a:r>
          </a:p>
          <a:p>
            <a:r>
              <a:rPr lang="en-US" dirty="0"/>
              <a:t>The File Component stores product catalogs, specifications, shopping guides, brand information, and frequently asked questions. This data is processed through the RAG pipeline, enabling the AI agent to retrieve accurate product information and provide context-aware shopping recommendations.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4" name="Picture 3">
            <a:extLst>
              <a:ext uri="{FF2B5EF4-FFF2-40B4-BE49-F238E27FC236}">
                <a16:creationId xmlns:a16="http://schemas.microsoft.com/office/drawing/2014/main" id="{145D34FA-9BC6-F795-A582-7B191F1D1D27}"/>
              </a:ext>
            </a:extLst>
          </p:cNvPr>
          <p:cNvPicPr>
            <a:picLocks noChangeAspect="1"/>
          </p:cNvPicPr>
          <p:nvPr/>
        </p:nvPicPr>
        <p:blipFill>
          <a:blip r:embed="rId3"/>
          <a:stretch>
            <a:fillRect/>
          </a:stretch>
        </p:blipFill>
        <p:spPr>
          <a:xfrm>
            <a:off x="537590" y="771747"/>
            <a:ext cx="10430933" cy="586740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F0D77E-59EA-3505-B053-B7F817FDD57C}"/>
              </a:ext>
            </a:extLst>
          </p:cNvPr>
          <p:cNvPicPr>
            <a:picLocks noChangeAspect="1"/>
          </p:cNvPicPr>
          <p:nvPr/>
        </p:nvPicPr>
        <p:blipFill>
          <a:blip r:embed="rId3"/>
          <a:stretch>
            <a:fillRect/>
          </a:stretch>
        </p:blipFill>
        <p:spPr>
          <a:xfrm>
            <a:off x="169332" y="95250"/>
            <a:ext cx="12022667" cy="6762750"/>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982A0D-40AC-5795-F951-858A2579036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56337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9BC76F2-6A97-D9DC-8151-DC18299BA56D}"/>
              </a:ext>
            </a:extLst>
          </p:cNvPr>
          <p:cNvPicPr>
            <a:picLocks noChangeAspect="1"/>
          </p:cNvPicPr>
          <p:nvPr/>
        </p:nvPicPr>
        <p:blipFill>
          <a:blip r:embed="rId3"/>
          <a:stretch>
            <a:fillRect/>
          </a:stretch>
        </p:blipFill>
        <p:spPr>
          <a:xfrm>
            <a:off x="203200" y="114300"/>
            <a:ext cx="11988800" cy="6743700"/>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167493"/>
            <a:ext cx="7406640" cy="1846659"/>
          </a:xfrm>
          <a:prstGeom prst="rect">
            <a:avLst/>
          </a:prstGeom>
          <a:noFill/>
        </p:spPr>
        <p:txBody>
          <a:bodyPr wrap="square" rtlCol="0">
            <a:spAutoFit/>
          </a:bodyPr>
          <a:lstStyle/>
          <a:p>
            <a:r>
              <a:rPr lang="en-US" sz="1600" b="1" dirty="0"/>
              <a:t>Role of Agentic AI in </a:t>
            </a:r>
            <a:r>
              <a:rPr lang="en-IN" sz="1600" b="1" dirty="0"/>
              <a:t>Intelligent Shopping Agent</a:t>
            </a:r>
            <a:endParaRPr lang="en-US" sz="1600" b="1" dirty="0"/>
          </a:p>
          <a:p>
            <a:r>
              <a:rPr lang="en-US" dirty="0"/>
              <a:t>Agentic AI serves as the decision-making core of the Intelligent Shopping Agent by autonomously analyzing user preferences, product information, pricing, customer reviews, and market trends. Multiple AI agents collaborate to discover suitable products, compare prices, summarize reviews, and generate personalized recommendations. The system continuously adapts to changes in product availability, discounts, and user preferences, providing intelligent, real-time shopping assistance that helps users make faster and more informed purchasing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US" sz="3200" dirty="0"/>
              <a:t>The Intelligent Shopping Agent goes beyond traditional recommendation systems by using </a:t>
            </a:r>
            <a:r>
              <a:rPr lang="en-US" sz="3200" b="1" dirty="0"/>
              <a:t>Agentic AI</a:t>
            </a:r>
            <a:r>
              <a:rPr lang="en-US" sz="3200" dirty="0"/>
              <a:t> to autonomously discover products, compare prices across platforms, analyze customer sentiment, and generate personalized recommendations in real time. Unlike conventional shopping assistants, it combines </a:t>
            </a:r>
            <a:r>
              <a:rPr lang="en-US" sz="3200" b="1" dirty="0"/>
              <a:t>RAG, multi-agent collaboration, and IBM Granite Models</a:t>
            </a:r>
            <a:r>
              <a:rPr lang="en-US" sz="3200" dirty="0"/>
              <a:t> to provide context-aware, explainable, and adaptive shopping guidance based on user preferences, budget, and live market information.</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3173749"/>
          </a:xfrm>
          <a:prstGeom prst="rect">
            <a:avLst/>
          </a:prstGeom>
          <a:noFill/>
          <a:ln>
            <a:noFill/>
          </a:ln>
        </p:spPr>
        <p:txBody>
          <a:bodyPr spcFirstLastPara="1" wrap="square" lIns="0" tIns="0" rIns="0" bIns="0" anchor="t" anchorCtr="0">
            <a:noAutofit/>
          </a:bodyPr>
          <a:lstStyle/>
          <a:p>
            <a:endParaRPr lang="en-US" sz="2000"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550FBDD1-9443-9A28-9D41-88560772A239}"/>
              </a:ext>
            </a:extLst>
          </p:cNvPr>
          <p:cNvSpPr>
            <a:spLocks noChangeArrowheads="1"/>
          </p:cNvSpPr>
          <p:nvPr/>
        </p:nvSpPr>
        <p:spPr bwMode="auto">
          <a:xfrm>
            <a:off x="1083732" y="750758"/>
            <a:ext cx="1347893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voice-based shopping assistants.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AR/VR product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AI-powered negotiation and coupon optimization.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future price drops using machine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with multiple global e-commerce platforms.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one-click purchasing through secure payment gateways.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multilingual shopping assistance.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Expand to B2B procurement and enterprise purchasing. </a:t>
            </a: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7" name="Picture 6">
            <a:extLst>
              <a:ext uri="{FF2B5EF4-FFF2-40B4-BE49-F238E27FC236}">
                <a16:creationId xmlns:a16="http://schemas.microsoft.com/office/drawing/2014/main" id="{6E07BB47-90D3-963D-6C4A-97BCC606C888}"/>
              </a:ext>
            </a:extLst>
          </p:cNvPr>
          <p:cNvPicPr>
            <a:picLocks noChangeAspect="1"/>
          </p:cNvPicPr>
          <p:nvPr/>
        </p:nvPicPr>
        <p:blipFill>
          <a:blip r:embed="rId2"/>
          <a:stretch>
            <a:fillRect/>
          </a:stretch>
        </p:blipFill>
        <p:spPr>
          <a:xfrm>
            <a:off x="1823394" y="732538"/>
            <a:ext cx="7529212" cy="579932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ABD6-100C-30E8-2F54-C92991A88E16}"/>
              </a:ext>
            </a:extLst>
          </p:cNvPr>
          <p:cNvSpPr>
            <a:spLocks noGrp="1"/>
          </p:cNvSpPr>
          <p:nvPr>
            <p:ph type="title"/>
          </p:nvPr>
        </p:nvSpPr>
        <p:spPr>
          <a:xfrm>
            <a:off x="309336" y="0"/>
            <a:ext cx="8852899" cy="1500187"/>
          </a:xfrm>
        </p:spPr>
        <p:txBody>
          <a:bodyPr>
            <a:normAutofit fontScale="90000"/>
          </a:bodyPr>
          <a:lstStyle/>
          <a:p>
            <a:r>
              <a:rPr lang="en-US" sz="6000" b="1" dirty="0"/>
              <a:t>Certificates Earned:</a:t>
            </a:r>
            <a:br>
              <a:rPr lang="en-US" sz="6000" b="1" dirty="0"/>
            </a:br>
            <a:endParaRPr lang="en-IN" dirty="0"/>
          </a:p>
        </p:txBody>
      </p:sp>
      <p:pic>
        <p:nvPicPr>
          <p:cNvPr id="4" name="Picture 3">
            <a:extLst>
              <a:ext uri="{FF2B5EF4-FFF2-40B4-BE49-F238E27FC236}">
                <a16:creationId xmlns:a16="http://schemas.microsoft.com/office/drawing/2014/main" id="{639966C7-2CC5-A90F-0399-13881FF25945}"/>
              </a:ext>
            </a:extLst>
          </p:cNvPr>
          <p:cNvPicPr>
            <a:picLocks noChangeAspect="1"/>
          </p:cNvPicPr>
          <p:nvPr/>
        </p:nvPicPr>
        <p:blipFill>
          <a:blip r:embed="rId2"/>
          <a:stretch>
            <a:fillRect/>
          </a:stretch>
        </p:blipFill>
        <p:spPr>
          <a:xfrm>
            <a:off x="2195927" y="775493"/>
            <a:ext cx="7529212" cy="5829805"/>
          </a:xfrm>
          <a:prstGeom prst="rect">
            <a:avLst/>
          </a:prstGeom>
        </p:spPr>
      </p:pic>
    </p:spTree>
    <p:extLst>
      <p:ext uri="{BB962C8B-B14F-4D97-AF65-F5344CB8AC3E}">
        <p14:creationId xmlns:p14="http://schemas.microsoft.com/office/powerpoint/2010/main" val="2714533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4" name="Picture 3">
            <a:extLst>
              <a:ext uri="{FF2B5EF4-FFF2-40B4-BE49-F238E27FC236}">
                <a16:creationId xmlns:a16="http://schemas.microsoft.com/office/drawing/2014/main" id="{8E540C98-2B00-FD9B-1F92-A99BD225C321}"/>
              </a:ext>
            </a:extLst>
          </p:cNvPr>
          <p:cNvPicPr>
            <a:picLocks noChangeAspect="1"/>
          </p:cNvPicPr>
          <p:nvPr/>
        </p:nvPicPr>
        <p:blipFill>
          <a:blip r:embed="rId2"/>
          <a:stretch>
            <a:fillRect/>
          </a:stretch>
        </p:blipFill>
        <p:spPr>
          <a:xfrm>
            <a:off x="2419031" y="788441"/>
            <a:ext cx="7876436" cy="584316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Git hub URL – https://github.com/Anonymous-Samya/Shopping-intelligent.git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896</Words>
  <Application>Microsoft Office PowerPoint</Application>
  <PresentationFormat>Widescreen</PresentationFormat>
  <Paragraphs>104</Paragraphs>
  <Slides>18</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Certificates Earned: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Thinker .</cp:lastModifiedBy>
  <cp:revision>106</cp:revision>
  <dcterms:created xsi:type="dcterms:W3CDTF">2025-07-08T05:06:56Z</dcterms:created>
  <dcterms:modified xsi:type="dcterms:W3CDTF">2026-07-15T06:20:11Z</dcterms:modified>
</cp:coreProperties>
</file>